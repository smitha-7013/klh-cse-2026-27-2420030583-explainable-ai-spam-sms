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5" r:id="rId4"/>
    <p:sldId id="271" r:id="rId5"/>
    <p:sldId id="274" r:id="rId6"/>
    <p:sldId id="261" r:id="rId7"/>
    <p:sldId id="270" r:id="rId8"/>
    <p:sldId id="259" r:id="rId9"/>
    <p:sldId id="266" r:id="rId10"/>
    <p:sldId id="269" r:id="rId11"/>
    <p:sldId id="275" r:id="rId12"/>
    <p:sldId id="260" r:id="rId13"/>
    <p:sldId id="26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955" y="190746"/>
            <a:ext cx="9144000" cy="2395923"/>
          </a:xfrm>
        </p:spPr>
        <p:txBody>
          <a:bodyPr wrap="square" lIns="0" tIns="0" rIns="0" bIns="0" anchor="t" anchorCtr="1">
            <a:noAutofit/>
          </a:bodyPr>
          <a:lstStyle/>
          <a:p>
            <a:pPr>
              <a:lnSpc>
                <a:spcPct val="100000"/>
              </a:lnSpc>
            </a:pP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ALT 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(24ALT3101)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Spam SMS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7858" y="2586669"/>
            <a:ext cx="7374194" cy="3713186"/>
          </a:xfrm>
        </p:spPr>
        <p:txBody>
          <a:bodyPr wrap="square" lIns="0" tIns="0" rIns="0" bIns="0"/>
          <a:lstStyle/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15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Sec: 07</a:t>
            </a:r>
          </a:p>
          <a:p>
            <a:pPr>
              <a:spcBef>
                <a:spcPts val="0"/>
              </a:spcBef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2420030044 - U. Jaya Sindhura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2420030376 - K. Ushasri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2420030583 - P. Smitha</a:t>
            </a: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350" y="1600200"/>
            <a:ext cx="889057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SMS is widely used for communication, alerts, transactions, and promotions.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Spam messages may contain: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Phishing attempts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Fraudulent offers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Malicious links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Unwanted advertisements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 spam detection is important for filtering unwanted and potentially harmful messages.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Different SMS messages contain different types of useful textual evidence.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11EC9-C1F3-65C0-735D-A2774BF7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1907566"/>
            <a:ext cx="2050398" cy="2339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3550" y="1517650"/>
            <a:ext cx="835025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Traditional spam detection methods often use </a:t>
            </a:r>
            <a:r>
              <a:rPr lang="en-US" sz="2400" b="1" dirty="0"/>
              <a:t>fixed features or representations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may not effectively capture: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Semantic meaning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Local textual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Contextual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Therefore: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system is required that can </a:t>
            </a:r>
            <a:r>
              <a:rPr lang="en-US" sz="2400" b="1" dirty="0"/>
              <a:t>adaptively combine different types of evidence</a:t>
            </a:r>
            <a:r>
              <a:rPr lang="en-US" sz="2400" dirty="0"/>
              <a:t> for each SMS message.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7C671A-B5C0-95F5-6F52-C329C4D3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6" y="1517650"/>
            <a:ext cx="2638444" cy="34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707E-8678-8470-A03C-D3D99C80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33D813-C088-5946-4B10-76CCABD5F29F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420C0-5675-A723-00A3-85567C441A0E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66DC7-AED7-F933-FA59-872F61F57E9B}"/>
              </a:ext>
            </a:extLst>
          </p:cNvPr>
          <p:cNvSpPr txBox="1"/>
          <p:nvPr/>
        </p:nvSpPr>
        <p:spPr>
          <a:xfrm>
            <a:off x="876300" y="1369913"/>
            <a:ext cx="7747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 a Transformer-based SMS spam detection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 err="1"/>
              <a:t>DistilBERT</a:t>
            </a:r>
            <a:r>
              <a:rPr lang="en-US" sz="2400" dirty="0"/>
              <a:t> for contextual text representation.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Extract multiple forms of evidence from SMS messages.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Use </a:t>
            </a:r>
            <a:r>
              <a:rPr lang="en-US" sz="2400" b="1" dirty="0"/>
              <a:t>Semantic, Pattern, and Context Experts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Introduce a </a:t>
            </a:r>
            <a:r>
              <a:rPr lang="en-US" sz="2400" b="1" dirty="0"/>
              <a:t>Dynamic Evidence Router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</a:t>
            </a:r>
            <a:r>
              <a:rPr lang="en-US" sz="2400" b="1" dirty="0"/>
              <a:t>Dynamic Weighted Evidence Fusion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Classify messages as </a:t>
            </a:r>
            <a:r>
              <a:rPr lang="en-US" sz="2400" b="1" dirty="0"/>
              <a:t>SPAM or HAM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Evaluate the model using standard classification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ablation and robustness testing.</a:t>
            </a:r>
          </a:p>
          <a:p>
            <a:pPr lvl="0"/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A64E6-5169-C6D3-DCC5-E404D25E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1" y="1679984"/>
            <a:ext cx="2397368" cy="29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FC41B-4CB1-960E-FF16-88AEC6F6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753AAC-585C-A292-4606-0D9966F2C267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8E18E-A546-B974-8BF2-2EA57DAF8037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Proposed Model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03608A-436E-2531-843A-251176C20270}"/>
              </a:ext>
            </a:extLst>
          </p:cNvPr>
          <p:cNvSpPr txBox="1"/>
          <p:nvPr/>
        </p:nvSpPr>
        <p:spPr>
          <a:xfrm>
            <a:off x="1149350" y="1440933"/>
            <a:ext cx="83185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Dynamic Evidence Routing Transformer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model consists of: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DistilBERT</a:t>
            </a:r>
            <a:r>
              <a:rPr lang="en-US" sz="2800" dirty="0"/>
              <a:t> Encoder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Semantic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Pattern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Context Expert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 Evidence Router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Dynamic Weighted Evidence Fusion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Classification Layer 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0625E-196D-3F26-DD32-BF2FE3BF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75" y="1234440"/>
            <a:ext cx="4464050" cy="5356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5351-F8D3-E8A6-E51B-C14657F2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C82F46-1902-DD99-9CF6-E482FC08EE0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7141F-5E7E-E73D-F69B-861F826B36D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Comparison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4346E-89D7-2A35-7210-C515ABDDF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22" y="1431636"/>
            <a:ext cx="9531928" cy="47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81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Model Components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1425C-71E0-4DF0-2A09-840C64DD6620}"/>
              </a:ext>
            </a:extLst>
          </p:cNvPr>
          <p:cNvSpPr txBox="1"/>
          <p:nvPr/>
        </p:nvSpPr>
        <p:spPr>
          <a:xfrm>
            <a:off x="1466850" y="1403349"/>
            <a:ext cx="8204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 err="1"/>
              <a:t>DistilBERT</a:t>
            </a:r>
            <a:r>
              <a:rPr lang="en-US" sz="2400" b="1" dirty="0"/>
              <a:t> Encoder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Generates contextual representations of SMS text. </a:t>
            </a:r>
          </a:p>
          <a:p>
            <a:pPr>
              <a:buNone/>
            </a:pPr>
            <a:r>
              <a:rPr lang="en-US" sz="2400" b="1" dirty="0"/>
              <a:t>Semantic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the overall meaning of the message. </a:t>
            </a:r>
          </a:p>
          <a:p>
            <a:pPr>
              <a:buNone/>
            </a:pPr>
            <a:r>
              <a:rPr lang="en-US" sz="2400" b="1" dirty="0"/>
              <a:t>Pattern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important local textual patterns. </a:t>
            </a:r>
          </a:p>
          <a:p>
            <a:pPr>
              <a:buNone/>
            </a:pPr>
            <a:r>
              <a:rPr lang="en-US" sz="2400" b="1" dirty="0"/>
              <a:t>Context Expert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useful contextual information. </a:t>
            </a:r>
          </a:p>
          <a:p>
            <a:pPr>
              <a:buNone/>
            </a:pPr>
            <a:r>
              <a:rPr lang="en-US" sz="2400" b="1" dirty="0"/>
              <a:t>Dynamic Evidence Router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Learns </a:t>
            </a:r>
            <a:r>
              <a:rPr lang="en-US" sz="2400" b="1" dirty="0"/>
              <a:t>instance-specific weights for each expert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28416" y="26203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Implementation Workflow/Output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566FA-4FDE-B27B-7D20-073398826E94}"/>
              </a:ext>
            </a:extLst>
          </p:cNvPr>
          <p:cNvSpPr txBox="1"/>
          <p:nvPr/>
        </p:nvSpPr>
        <p:spPr>
          <a:xfrm>
            <a:off x="819150" y="1295400"/>
            <a:ext cx="4318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SMS Dataset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Data Preprocessing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Train / Validation / Test Split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 err="1"/>
              <a:t>DistilBERT</a:t>
            </a:r>
            <a:r>
              <a:rPr lang="en-US" sz="2000" b="1" dirty="0"/>
              <a:t> Encoding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Three Expert Branches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Dynamic Evidence Router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Dynamic Weighted Evidence Fusion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Classification</a:t>
            </a:r>
          </a:p>
          <a:p>
            <a:r>
              <a:rPr lang="en-US" sz="2000" b="1" dirty="0"/>
              <a:t>     ↓</a:t>
            </a:r>
          </a:p>
          <a:p>
            <a:r>
              <a:rPr lang="en-US" sz="2000" b="1" dirty="0"/>
              <a:t>SPAM / HAM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500C5-7A0A-4E71-DD48-0754657159B0}"/>
              </a:ext>
            </a:extLst>
          </p:cNvPr>
          <p:cNvSpPr txBox="1"/>
          <p:nvPr/>
        </p:nvSpPr>
        <p:spPr>
          <a:xfrm>
            <a:off x="4826000" y="1841500"/>
            <a:ext cx="60515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trained successfully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Validation performed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Best model checkpoint saved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Test evaluation performed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1F67-1A24-51FA-517E-6E18428E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6D298F-7EF9-1199-B203-9F9A089FFCDF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CE067-6554-B9F3-0574-26361909B8F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Execution 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10FE-4E1E-3D78-CED9-822A2899D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001760"/>
            <a:ext cx="8299450" cy="553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3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857CD-D912-4BC2-8A3E-EDFEC4B4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2F11A95-23A2-FDDD-471B-6108EB1E3DF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1601-7830-8F12-A537-920EF60CA9E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 err="1">
                <a:solidFill>
                  <a:schemeClr val="bg1"/>
                </a:solidFill>
              </a:rPr>
              <a:t>Innovation&amp;Novelty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0829E-E614-BC46-4462-A3F9AE74F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553632"/>
            <a:ext cx="9791700" cy="451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01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BE09C-A772-BAB1-08A3-C0F416767149}"/>
              </a:ext>
            </a:extLst>
          </p:cNvPr>
          <p:cNvSpPr txBox="1"/>
          <p:nvPr/>
        </p:nvSpPr>
        <p:spPr>
          <a:xfrm>
            <a:off x="1327150" y="1136650"/>
            <a:ext cx="9169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Implemented a </a:t>
            </a:r>
            <a:r>
              <a:rPr lang="en-US" sz="2800" b="1" dirty="0"/>
              <a:t>Dynamic Evidence Routing Transformer</a:t>
            </a:r>
            <a:r>
              <a:rPr lang="en-US" sz="2800" dirty="0"/>
              <a:t> for SMS spam detection.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 err="1"/>
              <a:t>DistilBERT</a:t>
            </a:r>
            <a:r>
              <a:rPr lang="en-US" sz="2800" dirty="0"/>
              <a:t> with Semantic, Pattern, and Context Experts.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Dynamic Evidence Router learns </a:t>
            </a:r>
            <a:r>
              <a:rPr lang="en-US" sz="2800" b="1" dirty="0"/>
              <a:t>instance-specific expert weights</a:t>
            </a:r>
            <a:r>
              <a:rPr lang="en-US" sz="28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Dynamic Weighted Evidence Fusion combines the expert outputs.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Current test performance: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99.42% Accuracy</a:t>
            </a:r>
            <a:r>
              <a:rPr lang="en-US" sz="2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97.64% F1-Score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1A03ED-9656-ABB4-956F-EE62CF05EDEB}"/>
              </a:ext>
            </a:extLst>
          </p:cNvPr>
          <p:cNvSpPr txBox="1"/>
          <p:nvPr/>
        </p:nvSpPr>
        <p:spPr>
          <a:xfrm>
            <a:off x="1543050" y="1676400"/>
            <a:ext cx="9271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Complete ablation experiments.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Perform extensive robustness testing.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Evaluate on additional SMS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Improve dynamic routing.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Explore lightweight deployment.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Test on larger and more diverse SMS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425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 ALT  (24ALT3101) Spam SMS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Ushasri Kanagala</cp:lastModifiedBy>
  <cp:revision>55</cp:revision>
  <dcterms:created xsi:type="dcterms:W3CDTF">2024-08-29T05:25:00Z</dcterms:created>
  <dcterms:modified xsi:type="dcterms:W3CDTF">2026-09-20T05:16:43Z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